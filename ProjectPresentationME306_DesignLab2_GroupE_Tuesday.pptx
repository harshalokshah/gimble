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Montserrat SemiBold"/>
      <p:regular r:id="rId18"/>
      <p:bold r:id="rId19"/>
      <p:italic r:id="rId20"/>
      <p:boldItalic r:id="rId21"/>
    </p:embeddedFont>
    <p:embeddedFont>
      <p:font typeface="PT Sans Narrow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C4E10AF-C13F-4F68-9722-F7345584D0A4}">
  <a:tblStyle styleId="{5C4E10AF-C13F-4F68-9722-F7345584D0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SemiBold-italic.fntdata"/><Relationship Id="rId22" Type="http://schemas.openxmlformats.org/officeDocument/2006/relationships/font" Target="fonts/PTSansNarrow-regular.fntdata"/><Relationship Id="rId21" Type="http://schemas.openxmlformats.org/officeDocument/2006/relationships/font" Target="fonts/MontserratSemiBold-boldItalic.fntdata"/><Relationship Id="rId24" Type="http://schemas.openxmlformats.org/officeDocument/2006/relationships/font" Target="fonts/OpenSans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MontserratSemiBold-bold.fntdata"/><Relationship Id="rId18" Type="http://schemas.openxmlformats.org/officeDocument/2006/relationships/font" Target="fonts/Montserrat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a24710fb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ca24710f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a69bd11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a69bd11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a80f084c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a80f084c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a80f084c0_0_10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a80f084c0_0_10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a80f084c0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a80f084c0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080e884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080e884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ca80f084c0_0_10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ca80f084c0_0_10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a80f084c0_0_10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a80f084c0_0_10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a80f084c0_0_10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a80f084c0_0_1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a80f084c0_0_10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a80f084c0_0_10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robu.in/product/towerpro-mg995-servo-high-speed-digital-metal-gear-ball-bearing-torque-12kg-robot-arduino-good-quality180-degree-rotation/?gad_source=1&amp;gad_campaignid=20381096599&amp;gbraid=0AAAAADvLFWdlJseam3msAV2NimlzeYBUJ&amp;gclid=EAIaIQobChMIxp3ej_XxkgMVhLxLBR1opT2tEAQYBCABEgLMafD_BwE#" TargetMode="External"/><Relationship Id="rId4" Type="http://schemas.openxmlformats.org/officeDocument/2006/relationships/hyperlink" Target="https://roboticsdna.in/product/nodemcu-woroom-esp32-38pins-development-board/?src=google&amp;kwd=&amp;adgroup=%7Badgroup%7D&amp;device=c&amp;campaign=%7Bcampaign%7D&amp;adgroup=%7Badgroup%7D&amp;keyword=&amp;matchtype=&amp;gad_source=1&amp;gad_campaignid=22411741198&amp;gbraid=0AAAAAC-xzeFPT5IjUa3CHEQ2LqjzrUxIn&amp;gclid=EAIaIQobChMIm7GmlYPykgMVjKhmAh3m8wlKEAQYBCABEgLJTfD_BwE" TargetMode="External"/><Relationship Id="rId5" Type="http://schemas.openxmlformats.org/officeDocument/2006/relationships/hyperlink" Target="https://robu.in/product/orange-12v-1a-power-supply-with-5-5mm-dc-plug-adapter/?gad_source=1&amp;gad_campaignid=17427802559&amp;gbraid=0AAAAADvLFWeIJjhN0m5dPKOM-M85EK8hx&amp;gclid=EAIaIQobChMIoI-x0oPykgMVMdE8Ah1hvT2-EAQYASABEgLC4_D_BwE" TargetMode="External"/><Relationship Id="rId6" Type="http://schemas.openxmlformats.org/officeDocument/2006/relationships/hyperlink" Target="https://robu.in/product/mpu9250-9-axis-attitude-gyro-accelerator-magnetometer-sensor-module-2/?gad_source=1&amp;gad_campaignid=20363337560&amp;gbraid=0AAAAADvLFWeHl5rpBLulvCYxlJWNJGKnP&amp;gclid=EAIaIQobChMIiIKEooLykgMVvo5LBR2SZi-XEAQYASABEgIMI_D_BwE" TargetMode="External"/><Relationship Id="rId7" Type="http://schemas.openxmlformats.org/officeDocument/2006/relationships/hyperlink" Target="https://robu.in/product/lm2596s-dc-dc-buck-converter-power-supply/?gad_source=1&amp;gad_campaignid=17416544847&amp;gbraid=0AAAAADvLFWfOs_rakVXq-jwJrLSOV54Ok&amp;gclid=EAIaIQobChMI_vKrivvxkgMVx6JmAh1vyx19EAQYASABEgIkm_D_BwE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robocraze.com/products/pca9685-16-channel-servo-motor-driversoldered?variant=40193677721753&amp;country=IN&amp;currency=INR&amp;utm_medium=product_sync&amp;utm_source=google&amp;utm_content=sag_organic&amp;utm_campaign=sag_organic&amp;utm_source=google&amp;utm_medium=cpc&amp;utm_campaign=Pmax+%7C+Full+Built+%7C+Mechanical+%26+Electronic+Accessories&amp;utm_source=googleads&amp;utm_medium=ppc&amp;utm_campaign=20544560129&amp;utm_content=_&amp;utm_term=&amp;campaignid=20544560129&amp;adgroupid=&amp;campaign=20544560129&amp;gad_source=1&amp;gad_campaignid=20544562487&amp;gbraid=0AAAAADgHQvZTvYWveluMEKAS9n5PQZneF&amp;gclid=EAIaIQobChMI1sOnq_XxkgMVq8Q8Ah2YeBv9EAQYAiABEgJXofD_BwE" TargetMode="External"/><Relationship Id="rId4" Type="http://schemas.openxmlformats.org/officeDocument/2006/relationships/hyperlink" Target="https://robu.in/product/servo-mount-brackets-for-mg995-mg996-servo-motor/?gad_source=1&amp;gad_campaignid=20387462343&amp;gbraid=0AAAAADvLFWc5UdhVS72WOiGdIjJPYTlmJ&amp;gclid=EAIaIQobChMIkqKupPbxkgMVH6hmAh3wIgKoEAQYASABEgLV8_D_BwE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Mid Sem Evaluation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Plan,Experimental Schematic and List of Items to be Purchased (with Amazon/Robo Link)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Design Lab 2 - ME306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000000"/>
                </a:solidFill>
              </a:rPr>
              <a:t>Group E (Tuesday)</a:t>
            </a:r>
            <a:endParaRPr b="1" sz="24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866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Harsh Sharma - 2023MEB1346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Harsh Alok Shah - 2023MEB1344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Ekamjit Singh - 2023MEB1342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Gunjan Verma - 2023MEB1343</a:t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24 - 02 - 2026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60950" y="441075"/>
            <a:ext cx="8222100" cy="7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Project Title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311700" y="1542900"/>
            <a:ext cx="8520600" cy="17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3-Axis stabilization platform for vehicle-mounted cameras and LiDAR sensors, for rough terrain applications.</a:t>
            </a:r>
            <a:endParaRPr sz="23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640">
                <a:latin typeface="Montserrat SemiBold"/>
                <a:ea typeface="Montserrat SemiBold"/>
                <a:cs typeface="Montserrat SemiBold"/>
                <a:sym typeface="Montserrat SemiBold"/>
              </a:rPr>
              <a:t>Problem Statement</a:t>
            </a:r>
            <a:endParaRPr b="0" sz="364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1674200"/>
            <a:ext cx="8520600" cy="255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Char char="-"/>
            </a:pPr>
            <a:r>
              <a:rPr lang="en" sz="16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Maintaining the orientation of cameras &amp; LiDAR sensors on moving </a:t>
            </a:r>
            <a:r>
              <a:rPr lang="en" sz="16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vehicles </a:t>
            </a:r>
            <a:r>
              <a:rPr lang="en" sz="16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is a significant challenge, as vibrations, bumps, and uneven surfaces may cause sensor misalignment.</a:t>
            </a:r>
            <a:endParaRPr sz="16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Montserrat SemiBold"/>
              <a:buChar char="-"/>
            </a:pPr>
            <a:r>
              <a:rPr lang="en" sz="16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Our project is to design and implement a compact 3-axis inertial stabilization platform using an accelerometer-based feedback control, capable of keeping vehicle-mounted cameras &amp; LiDAR sensors orientation fixed in real time.</a:t>
            </a:r>
            <a:endParaRPr sz="2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640">
                <a:latin typeface="Montserrat SemiBold"/>
                <a:ea typeface="Montserrat SemiBold"/>
                <a:cs typeface="Montserrat SemiBold"/>
                <a:sym typeface="Montserrat SemiBold"/>
              </a:rPr>
              <a:t>Direct </a:t>
            </a:r>
            <a:r>
              <a:rPr b="0" lang="en" sz="3640">
                <a:latin typeface="Montserrat SemiBold"/>
                <a:ea typeface="Montserrat SemiBold"/>
                <a:cs typeface="Montserrat SemiBold"/>
                <a:sym typeface="Montserrat SemiBold"/>
              </a:rPr>
              <a:t>Applications</a:t>
            </a:r>
            <a:endParaRPr b="0" sz="364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481350" y="1441675"/>
            <a:ext cx="8181300" cy="313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 . Imaging stabilization for -</a:t>
            </a:r>
            <a:endParaRPr sz="1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SemiBold"/>
              <a:buChar char="-"/>
            </a:pPr>
            <a:r>
              <a:rPr lang="en" sz="1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Drone cameras ( as used by DJI )</a:t>
            </a:r>
            <a:endParaRPr sz="1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SemiBold"/>
              <a:buChar char="-"/>
            </a:pPr>
            <a:r>
              <a:rPr lang="en" sz="1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Vehicle-camera systems</a:t>
            </a:r>
            <a:endParaRPr sz="1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SemiBold"/>
              <a:buChar char="-"/>
            </a:pPr>
            <a:r>
              <a:rPr lang="en" sz="1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Body-worn cameras ( as used by GoPro )</a:t>
            </a:r>
            <a:endParaRPr sz="1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 . Satellite attitude control -</a:t>
            </a:r>
            <a:endParaRPr sz="1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 SemiBold"/>
              <a:buChar char="-"/>
            </a:pPr>
            <a:r>
              <a:rPr lang="en" sz="1400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Instruments like cameras / sensors can be pointed accurately to a target independent of the satellite’s rotation.</a:t>
            </a:r>
            <a:endParaRPr sz="1400"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1846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640">
                <a:latin typeface="Montserrat SemiBold"/>
                <a:ea typeface="Montserrat SemiBold"/>
                <a:cs typeface="Montserrat SemiBold"/>
                <a:sym typeface="Montserrat SemiBold"/>
              </a:rPr>
              <a:t>Schematic Diagram</a:t>
            </a:r>
            <a:endParaRPr b="0" sz="364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97" name="Google Shape;97;p18" title="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6213" y="1165300"/>
            <a:ext cx="3471575" cy="368627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6160225" y="3848050"/>
            <a:ext cx="2598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Controller + Power Supply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99" name="Google Shape;99;p18"/>
          <p:cNvCxnSpPr/>
          <p:nvPr/>
        </p:nvCxnSpPr>
        <p:spPr>
          <a:xfrm rot="10800000">
            <a:off x="5293100" y="3809850"/>
            <a:ext cx="1645500" cy="10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0" name="Google Shape;100;p18"/>
          <p:cNvSpPr txBox="1"/>
          <p:nvPr/>
        </p:nvSpPr>
        <p:spPr>
          <a:xfrm>
            <a:off x="6446025" y="1165300"/>
            <a:ext cx="226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Accelerometer sensor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01" name="Google Shape;101;p18"/>
          <p:cNvCxnSpPr>
            <a:stCxn id="100" idx="1"/>
          </p:cNvCxnSpPr>
          <p:nvPr/>
        </p:nvCxnSpPr>
        <p:spPr>
          <a:xfrm flipH="1">
            <a:off x="5225325" y="1365400"/>
            <a:ext cx="1220700" cy="286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2" name="Google Shape;102;p18"/>
          <p:cNvSpPr txBox="1"/>
          <p:nvPr/>
        </p:nvSpPr>
        <p:spPr>
          <a:xfrm>
            <a:off x="215775" y="1196050"/>
            <a:ext cx="297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 SemiBold"/>
                <a:ea typeface="Montserrat SemiBold"/>
                <a:cs typeface="Montserrat SemiBold"/>
                <a:sym typeface="Montserrat SemiBold"/>
              </a:rPr>
              <a:t>Platform with camera / LiDAR</a:t>
            </a:r>
            <a:endParaRPr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03" name="Google Shape;103;p18"/>
          <p:cNvCxnSpPr/>
          <p:nvPr/>
        </p:nvCxnSpPr>
        <p:spPr>
          <a:xfrm>
            <a:off x="2557800" y="1534675"/>
            <a:ext cx="1341300" cy="18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4" name="Google Shape;104;p18"/>
          <p:cNvSpPr txBox="1"/>
          <p:nvPr/>
        </p:nvSpPr>
        <p:spPr>
          <a:xfrm>
            <a:off x="5812675" y="2883075"/>
            <a:ext cx="329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SemiBold"/>
                <a:ea typeface="Montserrat SemiBold"/>
                <a:cs typeface="Montserrat SemiBold"/>
                <a:sym typeface="Montserrat SemiBold"/>
              </a:rPr>
              <a:t>Motor 3 - counters rotation along y-axis</a:t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215775" y="2823788"/>
            <a:ext cx="329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SemiBold"/>
                <a:ea typeface="Montserrat SemiBold"/>
                <a:cs typeface="Montserrat SemiBold"/>
                <a:sym typeface="Montserrat SemiBold"/>
              </a:rPr>
              <a:t>Motor 2 - counters rotation along z-axis</a:t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59175" y="2047050"/>
            <a:ext cx="3293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Montserrat SemiBold"/>
                <a:ea typeface="Montserrat SemiBold"/>
                <a:cs typeface="Montserrat SemiBold"/>
                <a:sym typeface="Montserrat SemiBold"/>
              </a:rPr>
              <a:t>Motor 1 - counters rotation along x-axis</a:t>
            </a:r>
            <a:endParaRPr sz="12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cxnSp>
        <p:nvCxnSpPr>
          <p:cNvPr id="107" name="Google Shape;107;p18"/>
          <p:cNvCxnSpPr/>
          <p:nvPr/>
        </p:nvCxnSpPr>
        <p:spPr>
          <a:xfrm flipH="1" rot="10800000">
            <a:off x="1171925" y="3700400"/>
            <a:ext cx="4500" cy="522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8"/>
          <p:cNvCxnSpPr/>
          <p:nvPr/>
        </p:nvCxnSpPr>
        <p:spPr>
          <a:xfrm flipH="1">
            <a:off x="776225" y="4226900"/>
            <a:ext cx="395700" cy="226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9" name="Google Shape;109;p18"/>
          <p:cNvCxnSpPr/>
          <p:nvPr/>
        </p:nvCxnSpPr>
        <p:spPr>
          <a:xfrm>
            <a:off x="1171925" y="4222700"/>
            <a:ext cx="540000" cy="42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0" name="Google Shape;110;p18"/>
          <p:cNvSpPr txBox="1"/>
          <p:nvPr/>
        </p:nvSpPr>
        <p:spPr>
          <a:xfrm>
            <a:off x="1759375" y="4024700"/>
            <a:ext cx="334200" cy="40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x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" name="Google Shape;111;p18"/>
          <p:cNvSpPr txBox="1"/>
          <p:nvPr/>
        </p:nvSpPr>
        <p:spPr>
          <a:xfrm>
            <a:off x="1045950" y="3300200"/>
            <a:ext cx="334200" cy="400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y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2" name="Google Shape;112;p18"/>
          <p:cNvSpPr txBox="1"/>
          <p:nvPr/>
        </p:nvSpPr>
        <p:spPr>
          <a:xfrm>
            <a:off x="502600" y="4272525"/>
            <a:ext cx="334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z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13" name="Google Shape;113;p18"/>
          <p:cNvCxnSpPr>
            <a:stCxn id="104" idx="1"/>
          </p:cNvCxnSpPr>
          <p:nvPr/>
        </p:nvCxnSpPr>
        <p:spPr>
          <a:xfrm flipH="1">
            <a:off x="4648075" y="3067725"/>
            <a:ext cx="1164600" cy="1803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4" name="Google Shape;114;p18"/>
          <p:cNvCxnSpPr>
            <a:stCxn id="106" idx="3"/>
          </p:cNvCxnSpPr>
          <p:nvPr/>
        </p:nvCxnSpPr>
        <p:spPr>
          <a:xfrm flipH="1" rot="10800000">
            <a:off x="3352275" y="2200200"/>
            <a:ext cx="1219800" cy="3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5" name="Google Shape;115;p18"/>
          <p:cNvCxnSpPr>
            <a:stCxn id="105" idx="3"/>
          </p:cNvCxnSpPr>
          <p:nvPr/>
        </p:nvCxnSpPr>
        <p:spPr>
          <a:xfrm flipH="1" rot="10800000">
            <a:off x="3508875" y="2943338"/>
            <a:ext cx="939300" cy="65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6" name="Google Shape;116;p18"/>
          <p:cNvSpPr/>
          <p:nvPr/>
        </p:nvSpPr>
        <p:spPr>
          <a:xfrm>
            <a:off x="501325" y="3371350"/>
            <a:ext cx="1541400" cy="1353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8"/>
          <p:cNvSpPr/>
          <p:nvPr/>
        </p:nvSpPr>
        <p:spPr>
          <a:xfrm rot="10468515">
            <a:off x="4487193" y="3302309"/>
            <a:ext cx="395738" cy="110002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8"/>
          <p:cNvSpPr/>
          <p:nvPr/>
        </p:nvSpPr>
        <p:spPr>
          <a:xfrm rot="-6818957">
            <a:off x="3780748" y="2846762"/>
            <a:ext cx="395625" cy="110025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8"/>
          <p:cNvSpPr/>
          <p:nvPr/>
        </p:nvSpPr>
        <p:spPr>
          <a:xfrm rot="8098157">
            <a:off x="4868099" y="2160996"/>
            <a:ext cx="395626" cy="109884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33667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822">
                <a:latin typeface="Montserrat SemiBold"/>
                <a:ea typeface="Montserrat SemiBold"/>
                <a:cs typeface="Montserrat SemiBold"/>
                <a:sym typeface="Montserrat SemiBold"/>
              </a:rPr>
              <a:t>Initial</a:t>
            </a:r>
            <a:r>
              <a:rPr b="0" lang="en" sz="3822">
                <a:latin typeface="Montserrat SemiBold"/>
                <a:ea typeface="Montserrat SemiBold"/>
                <a:cs typeface="Montserrat SemiBold"/>
                <a:sym typeface="Montserrat SemiBold"/>
              </a:rPr>
              <a:t> Plan</a:t>
            </a:r>
            <a:endParaRPr b="0" sz="3822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479175"/>
            <a:ext cx="8520600" cy="30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SemiBold"/>
              <a:buAutoNum type="arabicPeriod"/>
            </a:pPr>
            <a:r>
              <a:rPr lang="en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Modelling the system in MATLAB Simulink.</a:t>
            </a:r>
            <a:endParaRPr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SemiBold"/>
              <a:buAutoNum type="arabicPeriod"/>
            </a:pPr>
            <a:r>
              <a:rPr lang="en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Defining inputs and disturbances ( base rotation and tilt ).</a:t>
            </a:r>
            <a:endParaRPr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SemiBold"/>
              <a:buAutoNum type="arabicPeriod"/>
            </a:pPr>
            <a:r>
              <a:rPr lang="en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Implementation of independent PID control loops for three motors.</a:t>
            </a:r>
            <a:endParaRPr>
              <a:solidFill>
                <a:srgbClr val="00000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ontserrat SemiBold"/>
              <a:buAutoNum type="arabicPeriod"/>
            </a:pPr>
            <a:r>
              <a:rPr lang="en">
                <a:solidFill>
                  <a:srgbClr val="00000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Tuning the gain values to minimize overshoot and oscillations.</a:t>
            </a:r>
            <a:endParaRPr sz="25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1307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640">
                <a:latin typeface="Montserrat SemiBold"/>
                <a:ea typeface="Montserrat SemiBold"/>
                <a:cs typeface="Montserrat SemiBold"/>
                <a:sym typeface="Montserrat SemiBold"/>
              </a:rPr>
              <a:t>System Architecture ( High Level )</a:t>
            </a:r>
            <a:endParaRPr b="0" sz="364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1" name="Google Shape;131;p20"/>
          <p:cNvSpPr/>
          <p:nvPr/>
        </p:nvSpPr>
        <p:spPr>
          <a:xfrm>
            <a:off x="676275" y="1276350"/>
            <a:ext cx="1828800" cy="1057200"/>
          </a:xfrm>
          <a:prstGeom prst="flowChartAlternateProcess">
            <a:avLst/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IMU Sensor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 MPU9250 )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2" name="Google Shape;132;p20"/>
          <p:cNvSpPr/>
          <p:nvPr/>
        </p:nvSpPr>
        <p:spPr>
          <a:xfrm>
            <a:off x="3431275" y="1276350"/>
            <a:ext cx="1828800" cy="1057200"/>
          </a:xfrm>
          <a:prstGeom prst="flowChartAlternateProcess">
            <a:avLst/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PID Controller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 esp32 board )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3" name="Google Shape;133;p20"/>
          <p:cNvSpPr/>
          <p:nvPr/>
        </p:nvSpPr>
        <p:spPr>
          <a:xfrm>
            <a:off x="3431263" y="3526550"/>
            <a:ext cx="1828800" cy="1057200"/>
          </a:xfrm>
          <a:prstGeom prst="flowChartAlternateProcess">
            <a:avLst/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Motor Driver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 PCA9685 )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4" name="Google Shape;134;p20"/>
          <p:cNvSpPr/>
          <p:nvPr/>
        </p:nvSpPr>
        <p:spPr>
          <a:xfrm>
            <a:off x="676275" y="3526550"/>
            <a:ext cx="1828800" cy="1057200"/>
          </a:xfrm>
          <a:prstGeom prst="flowChartAlternateProcess">
            <a:avLst/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Servo </a:t>
            </a: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Motor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( MG995 )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5" name="Google Shape;135;p20"/>
          <p:cNvSpPr/>
          <p:nvPr/>
        </p:nvSpPr>
        <p:spPr>
          <a:xfrm>
            <a:off x="6283475" y="2510500"/>
            <a:ext cx="1634400" cy="839100"/>
          </a:xfrm>
          <a:prstGeom prst="flowChartAlternateProcess">
            <a:avLst/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12 V 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Power Supply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6" name="Google Shape;136;p20"/>
          <p:cNvSpPr/>
          <p:nvPr/>
        </p:nvSpPr>
        <p:spPr>
          <a:xfrm>
            <a:off x="6186275" y="3526550"/>
            <a:ext cx="1828800" cy="1057200"/>
          </a:xfrm>
          <a:prstGeom prst="flowChartAlternateProcess">
            <a:avLst/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DC-DC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Buck Converter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7" name="Google Shape;137;p20"/>
          <p:cNvSpPr/>
          <p:nvPr/>
        </p:nvSpPr>
        <p:spPr>
          <a:xfrm>
            <a:off x="6186275" y="1276350"/>
            <a:ext cx="1828800" cy="1057200"/>
          </a:xfrm>
          <a:prstGeom prst="flowChartAlternateProcess">
            <a:avLst/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DC-DC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Buck Converter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38" name="Google Shape;138;p20"/>
          <p:cNvSpPr/>
          <p:nvPr/>
        </p:nvSpPr>
        <p:spPr>
          <a:xfrm>
            <a:off x="2505075" y="1675500"/>
            <a:ext cx="926100" cy="176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9" name="Google Shape;139;p20"/>
          <p:cNvSpPr/>
          <p:nvPr/>
        </p:nvSpPr>
        <p:spPr>
          <a:xfrm rot="10800000">
            <a:off x="5260075" y="1723650"/>
            <a:ext cx="926100" cy="16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20"/>
          <p:cNvSpPr/>
          <p:nvPr/>
        </p:nvSpPr>
        <p:spPr>
          <a:xfrm rot="10800000">
            <a:off x="2505075" y="3976700"/>
            <a:ext cx="926100" cy="1569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20"/>
          <p:cNvSpPr/>
          <p:nvPr/>
        </p:nvSpPr>
        <p:spPr>
          <a:xfrm rot="10800000">
            <a:off x="5260075" y="3984650"/>
            <a:ext cx="926100" cy="1410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20"/>
          <p:cNvSpPr/>
          <p:nvPr/>
        </p:nvSpPr>
        <p:spPr>
          <a:xfrm rot="5400000">
            <a:off x="3750775" y="2838400"/>
            <a:ext cx="1189800" cy="183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5392875" y="1392900"/>
            <a:ext cx="7578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3.3 V</a:t>
            </a:r>
            <a:endParaRPr sz="1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5434125" y="3643100"/>
            <a:ext cx="578100" cy="3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6</a:t>
            </a:r>
            <a:r>
              <a:rPr lang="en" sz="1800">
                <a:latin typeface="Montserrat SemiBold"/>
                <a:ea typeface="Montserrat SemiBold"/>
                <a:cs typeface="Montserrat SemiBold"/>
                <a:sym typeface="Montserrat SemiBold"/>
              </a:rPr>
              <a:t> V</a:t>
            </a:r>
            <a:endParaRPr sz="18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45" name="Google Shape;145;p20"/>
          <p:cNvSpPr/>
          <p:nvPr/>
        </p:nvSpPr>
        <p:spPr>
          <a:xfrm rot="-5400000">
            <a:off x="7032675" y="2319300"/>
            <a:ext cx="152100" cy="180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20"/>
          <p:cNvSpPr/>
          <p:nvPr/>
        </p:nvSpPr>
        <p:spPr>
          <a:xfrm rot="5400000">
            <a:off x="7019925" y="3363850"/>
            <a:ext cx="177600" cy="149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C412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1"/>
          <p:cNvSpPr txBox="1"/>
          <p:nvPr>
            <p:ph type="title"/>
          </p:nvPr>
        </p:nvSpPr>
        <p:spPr>
          <a:xfrm>
            <a:off x="311700" y="2125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640">
                <a:latin typeface="Montserrat SemiBold"/>
                <a:ea typeface="Montserrat SemiBold"/>
                <a:cs typeface="Montserrat SemiBold"/>
                <a:sym typeface="Montserrat SemiBold"/>
              </a:rPr>
              <a:t>Control Flow</a:t>
            </a:r>
            <a:endParaRPr b="0" sz="364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276825" y="1538900"/>
            <a:ext cx="3153000" cy="7074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Initialize IMU &amp; servo motors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4188400" y="1376450"/>
            <a:ext cx="1934700" cy="10323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Read rotation data from IMU sensor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6787575" y="1376450"/>
            <a:ext cx="2079600" cy="11583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Calculate error between desired &amp; current orientation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6860025" y="3199675"/>
            <a:ext cx="1934700" cy="10323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PID control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3697425" y="3199675"/>
            <a:ext cx="2498100" cy="10323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Generate counter torque in the individual motors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1098225" y="3199675"/>
            <a:ext cx="1934700" cy="1032300"/>
          </a:xfrm>
          <a:prstGeom prst="rect">
            <a:avLst/>
          </a:prstGeom>
          <a:solidFill>
            <a:srgbClr val="3D85C6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Orientation corrected</a:t>
            </a:r>
            <a:endParaRPr>
              <a:solidFill>
                <a:schemeClr val="l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3429825" y="1848350"/>
            <a:ext cx="7587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1"/>
          <p:cNvSpPr/>
          <p:nvPr/>
        </p:nvSpPr>
        <p:spPr>
          <a:xfrm>
            <a:off x="6123100" y="1848350"/>
            <a:ext cx="6645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21"/>
          <p:cNvSpPr/>
          <p:nvPr/>
        </p:nvSpPr>
        <p:spPr>
          <a:xfrm rot="5396896">
            <a:off x="7392880" y="2792750"/>
            <a:ext cx="6645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21"/>
          <p:cNvSpPr/>
          <p:nvPr/>
        </p:nvSpPr>
        <p:spPr>
          <a:xfrm rot="10800000">
            <a:off x="6195525" y="3641425"/>
            <a:ext cx="6645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21"/>
          <p:cNvSpPr/>
          <p:nvPr/>
        </p:nvSpPr>
        <p:spPr>
          <a:xfrm rot="10800000">
            <a:off x="3032925" y="3641425"/>
            <a:ext cx="664500" cy="148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21"/>
          <p:cNvSpPr/>
          <p:nvPr/>
        </p:nvSpPr>
        <p:spPr>
          <a:xfrm rot="-1825127">
            <a:off x="2251749" y="2577379"/>
            <a:ext cx="2050101" cy="14226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0000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21"/>
          <p:cNvSpPr/>
          <p:nvPr/>
        </p:nvSpPr>
        <p:spPr>
          <a:xfrm rot="-8697919">
            <a:off x="4941238" y="2489086"/>
            <a:ext cx="429040" cy="472320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rgbClr val="6D9EEB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0" lang="en" sz="3640">
                <a:latin typeface="Montserrat SemiBold"/>
                <a:ea typeface="Montserrat SemiBold"/>
                <a:cs typeface="Montserrat SemiBold"/>
                <a:sym typeface="Montserrat SemiBold"/>
              </a:rPr>
              <a:t>Material Requirements</a:t>
            </a:r>
            <a:endParaRPr b="0" sz="364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aphicFrame>
        <p:nvGraphicFramePr>
          <p:cNvPr id="170" name="Google Shape;170;p22"/>
          <p:cNvGraphicFramePr/>
          <p:nvPr/>
        </p:nvGraphicFramePr>
        <p:xfrm>
          <a:off x="952500" y="127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{5C4E10AF-C13F-4F68-9722-F7345584D0A4}</a:tableStyleId>
              </a:tblPr>
              <a:tblGrid>
                <a:gridCol w="768025"/>
                <a:gridCol w="1671400"/>
                <a:gridCol w="1180075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S. No.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Item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Quantity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Purchase Link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MG995 </a:t>
                      </a:r>
                      <a:r>
                        <a:rPr lang="en"/>
                        <a:t>Servo Motors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Link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Esp32 board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Link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12V Power supply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Link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MPU9050 Accelerometer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6"/>
                        </a:rPr>
                        <a:t>Link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DC-DC Buck Converter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7"/>
                        </a:rPr>
                        <a:t>Link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Connecting Wires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As Needed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" name="Google Shape;175;p23"/>
          <p:cNvGraphicFramePr/>
          <p:nvPr/>
        </p:nvGraphicFramePr>
        <p:xfrm>
          <a:off x="952500" y="10575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{5C4E10AF-C13F-4F68-9722-F7345584D0A4}</a:tableStyleId>
              </a:tblPr>
              <a:tblGrid>
                <a:gridCol w="768025"/>
                <a:gridCol w="1671400"/>
                <a:gridCol w="1180075"/>
                <a:gridCol w="3619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Breadboard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PCA9685 Servo Motor Driver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3"/>
                        </a:rPr>
                        <a:t>Link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Servo Mount Brackets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 (important)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Link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